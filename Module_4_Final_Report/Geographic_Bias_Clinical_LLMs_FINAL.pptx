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3"/>
    <p:sldId id="269" r:id="rId15"/>
    <p:sldId id="270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14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3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and Cultural Bias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Clinical Large Language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2880360"/>
            <a:ext cx="5788152" cy="0"/>
          </a:xfrm>
          <a:prstGeom prst="line">
            <a:avLst/>
          </a:prstGeom>
          <a:noFill/>
          <a:ln w="25400">
            <a:solidFill>
              <a:srgbClr val="7FB3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0175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Taimour Abdul Karim   ·   Syed Muhammad Mujtaba   ·   Usmar Haider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Shawal Latif   ·   Abdul Moeed Irshad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(CS 5312)   ·   Spring 2026   ·   Dr. Imdadullah Khan   ·   LUMS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LLMs are deployed globally, but geographic bias is unmeasured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2/16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embedded in triage, patient messaging, and decision support — reaching LMIC patients.</a:t>
            </a:r>
            <a:endParaRPr lang="en-US" sz="20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shows non-clinical identity cues shift LLM recommendations:</a:t>
            </a:r>
            <a:endParaRPr lang="en-US" sz="2000" dirty="0"/>
          </a:p>
          <a:p>
            <a:pPr marL="381000" indent="-3810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Gourabathina et al. (2025): tone, gender, message formatting → statistically significant shifts on GPT-4.</a:t>
            </a:r>
            <a:endParaRPr lang="en-US" sz="2000" dirty="0"/>
          </a:p>
          <a:p>
            <a:pPr marL="381000" indent="-381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et al. (2025): Race, housing status, income, gender identity, and sexual orientation labels influenced LLM clinical recommendations, including triage priority, testing, treatment, and mental-health assessment.</a:t>
            </a:r>
          </a:p>
          <a:p>
            <a:pPr marL="381000" indent="-3810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studies measure identity shifts within a Global-North population.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tested whether a patient who reads as Global South gets different clinical advice when every clinical fact is held fixed.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55280" y="1051560"/>
            <a:ext cx="3749040" cy="22860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143000"/>
            <a:ext cx="35295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address
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North vs. Global South as a
perturbation axis in a clinical task —
a fairness failure that falls hardest on
populations most reliant on LLM-mediated care.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Gourabathina et al. (2025); Omar et al. (2025)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 anchor the audit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3/16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2070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patient identity cues are swapped to Global-South alternatives, do LLM recommendations shift in ways that reduce care?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3957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such bias systemic across model families, or specific to particular training regimes?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5844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proposed Geographic Disparity Index (GDI) give a stable model ranking for pre-deployment comparison?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7731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bias split into separable name-based and geography-based components, and do they interact?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Matched-pair perturbation holds clinical content fixed while swapping identity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4/16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clinical vignette with {{NAME}} and {{GEO}} placeholders.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deterministically from a regional Name Bank (150 entries, 6 regions) and a fixed Geo-Canonical table.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patient message to each model under test.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annotator (Llama-3.1-8B) extracts three binary triage labels: MANAGE, VISIT, RESOURCE.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Global-South condition to the Global-North baseline for the same case and same model.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55280" y="1051560"/>
            <a:ext cx="3749040" cy="24688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143000"/>
            <a:ext cx="352958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matched pairs
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clinical content, patient
message, and gold labels identical.
Removes per-case complexity and
per-model style as confounders.
What remains = the identity effect.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types: Baseline (Global-North) | Name-only | Geo-only | Combined (primary)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GDI quantifies the mean South-minus-North care gap across triage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5/16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RCER</a:t>
            </a:r>
            <a:r>
              <a:rPr lang="en-US" sz="1100" baseline="0" dirty="0">
                <a:solidFill>
                  <a:srgbClr val="1F4E79"/>
                </a:solidFill>
              </a:rPr>
              <a:t>(q)</a:t>
            </a:r>
            <a:r>
              <a:rPr lang="en-US" sz="1600" dirty="0">
                <a:solidFill>
                  <a:srgbClr val="222222"/>
                </a:solidFill>
              </a:rPr>
              <a:t>  =  (1/m)  ·  Σ  𝟏[T</a:t>
            </a:r>
            <a:r>
              <a:rPr lang="en-US" sz="1100" baseline="0" dirty="0">
                <a:solidFill>
                  <a:srgbClr val="222222"/>
                </a:solidFill>
              </a:rPr>
              <a:t>p</a:t>
            </a:r>
            <a:r>
              <a:rPr lang="en-US" sz="1000" baseline="0" dirty="0">
                <a:solidFill>
                  <a:srgbClr val="222222"/>
                </a:solidFill>
              </a:rPr>
              <a:t>(i,q)</a:t>
            </a:r>
            <a:r>
              <a:rPr lang="en-US" sz="1500" dirty="0">
                <a:solidFill>
                  <a:srgbClr val="222222"/>
                </a:solidFill>
              </a:rPr>
              <a:t>  = 0]   (sum over cases where gold label V=1)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GDI  =  (1/3) · Σ</a:t>
            </a:r>
            <a:r>
              <a:rPr lang="en-US" sz="1100" baseline="0" dirty="0">
                <a:solidFill>
                  <a:srgbClr val="1F4E79"/>
                </a:solidFill>
              </a:rPr>
              <a:t>q</a:t>
            </a:r>
            <a:r>
              <a:rPr lang="en-US" sz="1600" dirty="0">
                <a:solidFill>
                  <a:srgbClr val="222222"/>
                </a:solidFill>
              </a:rPr>
              <a:t>  (RCER</a:t>
            </a:r>
            <a:r>
              <a:rPr lang="en-US" sz="1000" baseline="0" dirty="0">
                <a:solidFill>
                  <a:srgbClr val="C00000"/>
                </a:solidFill>
              </a:rPr>
              <a:t>South</a:t>
            </a:r>
            <a:r>
              <a:rPr lang="en-US" sz="1600" dirty="0">
                <a:solidFill>
                  <a:srgbClr val="222222"/>
                </a:solidFill>
              </a:rPr>
              <a:t>  −  RCER</a:t>
            </a:r>
            <a:r>
              <a:rPr lang="en-US" sz="1000" baseline="0" dirty="0">
                <a:solidFill>
                  <a:srgbClr val="2E75B6"/>
                </a:solidFill>
              </a:rPr>
              <a:t>North</a:t>
            </a:r>
            <a:r>
              <a:rPr lang="en-US" sz="1500" dirty="0">
                <a:solidFill>
                  <a:srgbClr val="222222"/>
                </a:solidFill>
              </a:rPr>
              <a:t>)     averaged over {MANAGE, VISIT, RESOURCE}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697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Shift Rate — any recommendation change under perturbation.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33649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Reduced-Care Rate — shifts that withdraw a recommendation the model made at baseline.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03250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403250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Reduced-Care-Errors Rate — shifts that withdraw a clinically appropriate recommendation (gold label = 1).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7000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28800" y="47000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South-minus-North RCER gap.  Positive GDI = model fails the Global-South patient more often.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5367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53675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paired Wilcoxon; Bonferroni-corrected α = 0.05/9 ≈ 0.0056.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stdlib-only pipeline runs end-to-end without third-party dependencies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6/16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411480" cy="41148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6766560" cy="530352"/>
          </a:xfrm>
          <a:prstGeom prst="rect">
            <a:avLst/>
          </a:prstGeom>
          <a:solidFill>
            <a:srgbClr val="EBF3F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33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11338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cases.jsonl (20 synthetic + 60 OncQA); SHA-256 manifest hashing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1645920"/>
            <a:ext cx="0" cy="347472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411480" cy="41148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676656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0482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0482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Name-Bank × Geo substitution, SHA-256 keyed — byte-reproducible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2560320"/>
            <a:ext cx="0" cy="347472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2990088"/>
            <a:ext cx="411480" cy="41148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5840" y="2926080"/>
            <a:ext cx="6766560" cy="530352"/>
          </a:xfrm>
          <a:prstGeom prst="rect">
            <a:avLst/>
          </a:prstGeom>
          <a:solidFill>
            <a:srgbClr val="EBF3F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962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9626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Groq + AWS Bedrock; stdlib urllib.request; per-model token-bucket rate limiter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3474720"/>
            <a:ext cx="0" cy="347472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411480" cy="41148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3840480"/>
            <a:ext cx="676656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877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LLM-as-annotator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20440" y="38770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Llama-3.1-8B; JSON-constrained; three-layer fallback (0 heuristic labels in final run)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4389120"/>
            <a:ext cx="0" cy="347472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4818888"/>
            <a:ext cx="411480" cy="41148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" y="4754880"/>
            <a:ext cx="6766560" cy="530352"/>
          </a:xfrm>
          <a:prstGeom prst="rect">
            <a:avLst/>
          </a:prstGeom>
          <a:solidFill>
            <a:srgbClr val="EBF3F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791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statistics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47914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TSR, RCR, RCER, GDI; paired Wilcoxon; BCa bootstrap — no SciPy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097280"/>
            <a:ext cx="3657600" cy="22860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1188720"/>
            <a:ext cx="34381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components
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Per-model token-bucket rate limiter
• SHA-256 idempotency cache
• Manifest hashing (dataset, Name-Bank)
• YAML-driven reproducibility contract
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experiments scale from 20 synthetic cases to 60 real oncology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7/16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23042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Panel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Synthetic pilot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20 cases × 4 regions × 4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OpenAI + Groq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Validate pipeline; size next run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OncQA scaling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60 cases × 4 regions × 3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OpenAI + Bedrock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Primary hypothesis test (720 completions)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Ablation: Name/Geo/Combined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20 cases × 4 regions × 3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OpenAI + Bedrock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Decompose name vs. geography channel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Multi-seed robustness (seeds 7,13)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60 cases × 4 regions × 2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Bedrock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Test seed sensitivity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Intersectional (male / female)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60 cases × 4 regions × 2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Bedrock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Gender × geography interaction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Regional coverage (all 5 South regions)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60 cases × 6 regions × 2 models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Bedrock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Cover Southeast Asia + MENA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guarantees: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completion is a live API call  ·  Every number traces to a timestamped run directory  ·  SHA-256 cache enables re-runs without rebilling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1: Synthetic pilot (n=20) is a near-null — by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8/16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16459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RCER_N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RCER_S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 (Wilcoxon)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GPT-4o-mini (OpenAI)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2.8%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4.3%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[−0.019, +0.031]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GPT-OSS-20B (Groq)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15.7%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13.8%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[−0.124, +0.038]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0.762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 (Groq)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9.0%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7.3%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−0.017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[−0.028, +0.000]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0.963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Qwen3-32B (Groq)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16.8%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10.6%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−0.062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[−0.136, +0.091]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0.708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033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95% CI straddles zero — no model significant.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Near-null by design: power analysis showed n = 20 cannot resolve effects of this size.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pilot's job was to validate the pipeline and size the next run.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412480" y="3703320"/>
            <a:ext cx="3291840" cy="914400"/>
          </a:xfrm>
          <a:prstGeom prst="rect">
            <a:avLst/>
          </a:prstGeom>
          <a:solidFill>
            <a:srgbClr val="FFF2CC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8522208" y="379476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the pipeline works; the sample is too small to detect the effect.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OncQA real data (n=60) — all three models produce a positive GDI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9/16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131673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RCER_N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RCER_S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95% CI (BCa)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 (Wilcoxon)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Claude-Haiku-4.5 (Bedrock)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16.2%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20.7%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[+0.010, +0.053]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0.004 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GPT-4o-mini (OpenAI)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18.0%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21.9%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+0.039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[+0.013, +0.083]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 (Bedrock)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18.9%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19.8%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[−0.003, +0.047]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0.038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44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Bonferroni-corrected threshold α = 0.0056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produce a positive GDI in the hypothesised direction.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Claude-Haiku-4.5 clears the Bonferroni-corrected threshold (p = 0.004 &lt; 0.0056).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real clinician-written oncology cases — n=20 → n=60 plus real text moves the signal out of noise.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GDI across models: +0.031 (about 3.1 pp more care errors for Global-South patients).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412480" y="3291840"/>
            <a:ext cx="3291840" cy="1280160"/>
          </a:xfrm>
          <a:prstGeom prst="rect">
            <a:avLst/>
          </a:prstGeom>
          <a:solidFill>
            <a:srgbClr val="FFF2CC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8522208" y="3383280"/>
            <a:ext cx="3072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clear.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positive on this seed; slide 12 shows how much the size of the effect varies across seeds.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concentrates on MANAGE and RESOURCE — VISIT is a ceiling effect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10/16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772400" cy="13167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ΔMANAGE (pp)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ΔVISIT (pp)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ΔRESOURCE (pp)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Claude-Haiku-4.5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+9.0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+4.4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GPT-4o-mini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+10.8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−1.8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+4.4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20440"/>
            <a:ext cx="112745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carries most of the shift (up to +10.8 pp).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shows a steady +4.4 pp shift on two of three models.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is flat: ceiling effect — gold label VISIT=1 in 92% of OncQA cases; no variance for the metric.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sits on self-management and referral decisions, not the visible 'go to clinic' axis.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2186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Δ = South RCER higher than North (more care errors for Global-South patient).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3: Geography drives the effect 3–6× more than patient name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11/16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4552" cy="131673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Name-only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Geo-only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Combined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Interaction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Claude-Haiku-4.5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+0.028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GPT-4o-mini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+0.037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−0.046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+0.046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+0.020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−0.036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83280"/>
            <a:ext cx="112745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Geo-only GDI is 3 to 6 times larger than Name-only for every model.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name on its own barely moves the metric; the stated location does.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cues do not simply add: on two models the Combined effect is smaller than Geo-only alone (negative interaction).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both cues may produce a prompt the model reads as out-of-distribution, dampening the geographic signal.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0906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= Combined − Name-only − Geo-only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check: direction holds across seeds; significance does not replicate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12/16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4552" cy="98755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Seed 42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Seed 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Seed 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Claude-Haiku-4.5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+0.045 (p=0.004)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−0.015 (p=0.846)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+0.012 (p=0.017)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+0.009 (p=0.038)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+0.039 (p=0.016)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+0.012 (p=0.190)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+0.020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29000"/>
            <a:ext cx="112745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fixes which name and city fill each case — re-running tests whether seed 42 was a lucky draw.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holds: both models stay positive in the mean (+0.014 and +0.020).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does not: Claude's p = 0.004 at seed 42 becomes p = 0.846 at seed 7.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estimate: a small mean GDI of ≈ +0.014 to +0.020; the seed-42 headline overstates it.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reporting should be standard for perturbation audits at this scale.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Intersectional: patient gender changes the geographic effect — axes are not separable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13/16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772400" cy="98755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Male patients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Female patients GDI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Claude-Haiku-4.5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+0.012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−0.012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Llama-3.3-70B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−0.048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11274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OncQA with male-only and female-only names isolates a gender axis on top of geography.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Claude-Haiku-4.5 the geographic disadvantage falls on male patients; on Llama-3.3-70B it falls the other way.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and gender are not separable: an audit that fixes gender can hide a disparity that is real for one gender only.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South regions covered separately on the next slide; per-region GDIs are small and cluster near zero.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Geographic-axis bias in clinical LLMs is genuine, modest, and model-variable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15/16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070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data, Global-South identity perturbation reduces appropriate care by a small but consistently positive margin.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is systemic in direction (every model and seed positive in the mean) but small and not robustly significant at n=60.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1868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GDI gives a usable within-panel ranking at adequate n, but not one that is stable across panels or seeds.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42245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disparity is mostly geographic (3–6×), weakly name-based, and interacts with patient gender rather than being separable.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11274552" cy="804672"/>
          </a:xfrm>
          <a:prstGeom prst="rect">
            <a:avLst/>
          </a:prstGeom>
          <a:solidFill>
            <a:srgbClr val="FFF2CC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5230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70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Geographic-axis bias is genuine but modest and model-variable. Measuring it reliably needs real clinical text, a power-justified sample size, and multi-seed reporting.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16/16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small and seed-sensitive at n=60; three seeds is still few.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gold labels are team-assigned, not clinician-validated (board-certified double-label exercise not completed).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and intersectional runs use a Bedrock-only two-model panel (OpenAI quota exhausted).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scoped to OncQA oncology text and three South regions for the headline result.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and MENA covered only in the all-region extension run.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0" cy="493776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seeds and more cases to pin the effect size reliably.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other real corpora beyond oncology.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intersectional runs; severity-level crossing.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Board-certified clinician inter-rater agreement (Cohen's κ).</a:t>
            </a:r>
            <a:endParaRPr lang="en-US" sz="18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and MENA as primary audit regions.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324612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5988" y="1828801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5988" y="3886201"/>
            <a:ext cx="10332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</a:rPr>
              <a:t>Every result traces to a timestamped run directory.
Full methods, tables, and reproducibility notes are in the final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108" y="5029201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Taimour Abdul Karim  ·  Syed Muhammad Mujtaba  ·  Usmar Haider  ·  Shawal Latif  ·  Abdul Moeed Irshad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988" y="5577840"/>
            <a:ext cx="10332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</a:rPr>
              <a:t>Big Data Analytics (CS 5312)  |  Spring 2026  |  Dr. Imdadullah Khan  |  LUMS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coverage: all five South regions sit in a small-magnitude band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Geographic Bias in Clinical 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14/16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772400" cy="197510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Claude-Haiku-4.5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Llama-3.3-70B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South Asia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−0.018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Sub-Saharan Africa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Southeast Asia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−0.036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MENA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−0.018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+0.009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Latin America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−0.027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11274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audit to all five South regions on a seed-42 Bedrock run (720 generations, 720 annotations, zero errors).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newly-added regions (Southeast Asia, MENA) sit in the same band as the original three; no region produces a distinct disparity.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GDI ranges from −0.036 (Llama on Southeast Asia) to +0.009 (Llama on MENA); the pooled GDI is −0.025 (Claude) and −0.020 (Llama).</a:t>
            </a:r>
            <a:endParaRPr lang="en-US" sz="20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is slightly negative this run, consistent with the run-to-run variance documented on slide 12 (seed fixes perturbation, not generation).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2168</Words>
  <Application>Microsoft Office PowerPoint</Application>
  <PresentationFormat>Widescreen</PresentationFormat>
  <Paragraphs>308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Moeed  Irshad</cp:lastModifiedBy>
  <cp:revision>3</cp:revision>
  <dcterms:created xsi:type="dcterms:W3CDTF">2026-05-20T09:28:15Z</dcterms:created>
  <dcterms:modified xsi:type="dcterms:W3CDTF">2026-05-20T09:38:10Z</dcterms:modified>
</cp:coreProperties>
</file>